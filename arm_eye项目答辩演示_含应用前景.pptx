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842f10265e484b" /><Relationship Type="http://schemas.openxmlformats.org/officeDocument/2006/relationships/extended-properties" Target="/docProps/app.xml" Id="Rfc76cd1de40b4fdd" /><Relationship Type="http://schemas.openxmlformats.org/officeDocument/2006/relationships/officeDocument" Target="/ppt/presentation.xml" Id="R39f002d31bf047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11d3ab61af4bd6"/>
  </p:sldMasterIdLst>
  <p:notesMasterIdLst>
    <p:notesMasterId xmlns:r="http://schemas.openxmlformats.org/officeDocument/2006/relationships" r:id="R5637b8d3f74742b5"/>
  </p:notesMasterIdLst>
  <p:sldIdLst>
    <p:sldId xmlns:r="http://schemas.openxmlformats.org/officeDocument/2006/relationships" id="256" r:id="R58cf936cd296427c"/>
    <p:sldId xmlns:r="http://schemas.openxmlformats.org/officeDocument/2006/relationships" id="257" r:id="Reb16b45649f8464a"/>
    <p:sldId xmlns:r="http://schemas.openxmlformats.org/officeDocument/2006/relationships" id="258" r:id="R47c3e6b21a994a21"/>
    <p:sldId xmlns:r="http://schemas.openxmlformats.org/officeDocument/2006/relationships" id="259" r:id="R93632dfc5c7c48b9"/>
    <p:sldId xmlns:r="http://schemas.openxmlformats.org/officeDocument/2006/relationships" id="260" r:id="Raaad2704f0b94e9a"/>
    <p:sldId xmlns:r="http://schemas.openxmlformats.org/officeDocument/2006/relationships" id="261" r:id="R25f26b474fc0440c"/>
    <p:sldId xmlns:r="http://schemas.openxmlformats.org/officeDocument/2006/relationships" id="262" r:id="R7d27abef63514ba0"/>
    <p:sldId xmlns:r="http://schemas.openxmlformats.org/officeDocument/2006/relationships" id="263" r:id="Ra2be8401f52640ee"/>
    <p:sldId xmlns:r="http://schemas.openxmlformats.org/officeDocument/2006/relationships" id="264" r:id="Rb4344e96cc1d4fe7"/>
    <p:sldId xmlns:r="http://schemas.openxmlformats.org/officeDocument/2006/relationships" id="265" r:id="R448c0734c86c4e98"/>
    <p:sldId xmlns:r="http://schemas.openxmlformats.org/officeDocument/2006/relationships" id="266" r:id="Rf288c552b29e4a0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d63f3e8a844fb4" /><Relationship Type="http://schemas.openxmlformats.org/officeDocument/2006/relationships/slideMaster" Target="/ppt/slideMasters/slideMaster1.xml" Id="R0111d3ab61af4bd6" /><Relationship Type="http://schemas.openxmlformats.org/officeDocument/2006/relationships/notesMaster" Target="/ppt/notesMasters/notesMaster1.xml" Id="R5637b8d3f74742b5" /><Relationship Type="http://schemas.openxmlformats.org/officeDocument/2006/relationships/presProps" Target="/ppt/presProps.xml" Id="R9fb54972f4e842db" /><Relationship Type="http://schemas.openxmlformats.org/officeDocument/2006/relationships/viewProps" Target="/ppt/viewProps.xml" Id="R99696174056c4a68" /><Relationship Type="http://schemas.openxmlformats.org/officeDocument/2006/relationships/tableStyles" Target="/ppt/tableStyles.xml" Id="R99703f728cac45a4" /><Relationship Type="http://schemas.openxmlformats.org/officeDocument/2006/relationships/slide" Target="/ppt/slides/slide1.xml" Id="R58cf936cd296427c" /><Relationship Type="http://schemas.openxmlformats.org/officeDocument/2006/relationships/slide" Target="/ppt/slides/slide2.xml" Id="Reb16b45649f8464a" /><Relationship Type="http://schemas.openxmlformats.org/officeDocument/2006/relationships/slide" Target="/ppt/slides/slide3.xml" Id="R47c3e6b21a994a21" /><Relationship Type="http://schemas.openxmlformats.org/officeDocument/2006/relationships/slide" Target="/ppt/slides/slide4.xml" Id="R93632dfc5c7c48b9" /><Relationship Type="http://schemas.openxmlformats.org/officeDocument/2006/relationships/slide" Target="/ppt/slides/slide5.xml" Id="Raaad2704f0b94e9a" /><Relationship Type="http://schemas.openxmlformats.org/officeDocument/2006/relationships/slide" Target="/ppt/slides/slide6.xml" Id="R25f26b474fc0440c" /><Relationship Type="http://schemas.openxmlformats.org/officeDocument/2006/relationships/slide" Target="/ppt/slides/slide7.xml" Id="R7d27abef63514ba0" /><Relationship Type="http://schemas.openxmlformats.org/officeDocument/2006/relationships/slide" Target="/ppt/slides/slide8.xml" Id="Ra2be8401f52640ee" /><Relationship Type="http://schemas.openxmlformats.org/officeDocument/2006/relationships/slide" Target="/ppt/slides/slide9.xml" Id="Rb4344e96cc1d4fe7" /><Relationship Type="http://schemas.openxmlformats.org/officeDocument/2006/relationships/slide" Target="/ppt/slides/slide10.xml" Id="R448c0734c86c4e98" /><Relationship Type="http://schemas.openxmlformats.org/officeDocument/2006/relationships/slide" Target="/ppt/slides/slide11.xml" Id="Rf288c552b29e4a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29fdb2444c647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ce34335bf345c0" /><Relationship Type="http://schemas.openxmlformats.org/officeDocument/2006/relationships/notesMaster" Target="/ppt/notesMasters/notesMaster1.xml" Id="Rd7c2a652c28146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14a2cf84674ec8" /><Relationship Type="http://schemas.openxmlformats.org/officeDocument/2006/relationships/notesMaster" Target="/ppt/notesMasters/notesMaster1.xml" Id="Rc376d11e45f94ab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8f2efaaab0e4826" /><Relationship Type="http://schemas.openxmlformats.org/officeDocument/2006/relationships/notesMaster" Target="/ppt/notesMasters/notesMaster1.xml" Id="R802914fdc0ed4f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df5be9f196746e0" /><Relationship Type="http://schemas.openxmlformats.org/officeDocument/2006/relationships/notesMaster" Target="/ppt/notesMasters/notesMaster1.xml" Id="Rb774171880ba448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74612b00514b04" /><Relationship Type="http://schemas.openxmlformats.org/officeDocument/2006/relationships/notesMaster" Target="/ppt/notesMasters/notesMaster1.xml" Id="Rce401581b25d4be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1961fe0557a405b" /><Relationship Type="http://schemas.openxmlformats.org/officeDocument/2006/relationships/notesMaster" Target="/ppt/notesMasters/notesMaster1.xml" Id="R0a627c01f0334ee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be8cca548d54ad2" /><Relationship Type="http://schemas.openxmlformats.org/officeDocument/2006/relationships/notesMaster" Target="/ppt/notesMasters/notesMaster1.xml" Id="R4aa7b27b8c864d8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77195137c9a4802" /><Relationship Type="http://schemas.openxmlformats.org/officeDocument/2006/relationships/notesMaster" Target="/ppt/notesMasters/notesMaster1.xml" Id="Rbb5a35fcb34a4d8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755c9938bfc4776" /><Relationship Type="http://schemas.openxmlformats.org/officeDocument/2006/relationships/notesMaster" Target="/ppt/notesMasters/notesMaster1.xml" Id="R8a855c5838454ff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c6b6a926480468c" /><Relationship Type="http://schemas.openxmlformats.org/officeDocument/2006/relationships/notesMaster" Target="/ppt/notesMasters/notesMaster1.xml" Id="R39a25f1e3583411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099483748a7402f" /><Relationship Type="http://schemas.openxmlformats.org/officeDocument/2006/relationships/notesMaster" Target="/ppt/notesMasters/notesMaster1.xml" Id="R685b7719f8cc46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大家好，我汇报的题目是《视觉手势驱动的四自由度机械臂控制系统》。项目由 arm 基础控制程序和 arm_eye 视觉控制扩展组成。接下来我将从项目演进、系统实现、安全机制和测试结果四个方面进行说明。建议用时：35秒。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/Users/silverbrick/Documents/ChatGPT/arm_eye/src/main.cpp</a:t>
            </a:r>
          </a:p>
          <a:p xmlns:a="http://schemas.openxmlformats.org/drawingml/2006/main">
            <a:r>
              <a:t>- /Users/silverbrick/Documents/PlatformIO/Projects/arm/src/main.cpp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这两个项目是继承关系。arm 首先完成四轴安全控制、动作录制和回放；arm_eye 不改动 arm，而是在其可靠控制基础上增加视觉识别和串口命令层。核心变化是把输入方式从机械电位器扩展成自然手势。建议用时：55秒。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/Users/silverbrick/Documents/PlatformIO/Projects/arm/src/main.cpp</a:t>
            </a:r>
          </a:p>
          <a:p xmlns:a="http://schemas.openxmlformats.org/drawingml/2006/main">
            <a:r>
              <a:t>- /Users/silverbrick/Documents/ChatGPT/arm_eye/gesture_control/README.md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arm 项目的价值是先把底层控制做稳。四个关节分别采集电位器信号并驱动舵机；每个关节都有安全角度限制。按钮支持录制和回放，而且记录的是完整过程，不只是起止角度，因此能保留动作轨迹。建议用时：60秒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/Users/silverbrick/Documents/PlatformIO/Projects/arm/src/main.cpp:13</a:t>
            </a:r>
          </a:p>
          <a:p xmlns:a="http://schemas.openxmlformats.org/drawingml/2006/main">
            <a:r>
              <a:t>- /Users/silverbrick/Documents/PlatformIO/Projects/arm/src/main.cpp:27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arm_eye 形成了一条完整链路</a:t>
            </a:r>
            <a:r>
              <a:t>，iPhone</a:t>
            </a:r>
            <a:r>
              <a:t>摄像头负责采集，MediaPipe 输出手势类别和置信度，Python 程序经过稳定性判断后发送单字符命令，ESP32 再执行对应的关节动作。识别与固件分层，问题可以在摄像头、串口或舵机任一层单独定位。建议用时：65秒。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/Users/silverbrick/Documents/ChatGPT/arm_eye/gesture_control/gesture_control.py</a:t>
            </a:r>
          </a:p>
          <a:p xmlns:a="http://schemas.openxmlformats.org/drawingml/2006/main">
            <a:r>
              <a:t>- /Users/silverbrick/Documents/ChatGPT/arm_eye/src/main.cpp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四个关节使用独立的模拟输入和 PWM 输出。安全范围直接沿用 arm 项目的校准结果，避免视觉指令使舵机越界。抓取动作中，J2 固定在实测稳定值 78 度，减少其他关节动作时的姿态漂移。建议用时：55秒。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/Users/silverbrick/Documents/ChatGPT/arm_eye/src/main.cpp:8</a:t>
            </a:r>
          </a:p>
          <a:p xmlns:a="http://schemas.openxmlformats.org/drawingml/2006/main">
            <a:r>
              <a:t>- /Users/silverbrick/Documents/ChatGPT/arm_eye/src/main.cpp:53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系统只响应五种明确手势。张开手掌是待机和松开；握拳触发抓取轨迹；食指向上控制抬升；拇指向下执行抬升的反动作；胜利手势控制底座旋转。每个动作都能解释到具体关节，因此便于校准和答辩演示。建议用时：70秒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/Users/silverbrick/Documents/ChatGPT/arm_eye/gesture_control/gesture_control.py:28</a:t>
            </a:r>
          </a:p>
          <a:p xmlns:a="http://schemas.openxmlformats.org/drawingml/2006/main">
            <a:r>
              <a:t>- /Users/silverbrick/Documents/ChatGPT/arm_eye/src/main.cpp:334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视觉识别存在瞬时误判，因此我设计了两级过滤：先检查 0.65 的置信度，再要求同一手势连续稳定 4 帧。进入固件后仍受安全角度和每周期 2 度的限速约束。如果出现异常，长按 GPIO13 两秒，四个关节会平滑回到 90 度。建议用时：65秒。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/Users/silverbrick/Documents/ChatGPT/arm_eye/gesture_control/gesture_control.py:21</a:t>
            </a:r>
          </a:p>
          <a:p xmlns:a="http://schemas.openxmlformats.org/drawingml/2006/main">
            <a:r>
              <a:t>- /Users/silverbrick/Documents/ChatGPT/arm_eye/src/main.cpp:33</a:t>
            </a:r>
          </a:p>
          <a:p xmlns:a="http://schemas.openxmlformats.org/drawingml/2006/main">
            <a:r>
              <a:t>- /Users/silverbrick/Documents/ChatGPT/arm_eye/src/main.cpp:40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项目不仅能运行，也做了可重复验证。Python 识别状态机共有 17 项单元测试并全部通过；最近一次 ESP32 构建中，RAM 占用约 9.7%，Flash 占用约 22.5%，资源余量充足。双击启动器后会自动烧录并启动摄像头识别，降低现场演示步骤。建议用时：60秒。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/Users/silverbrick/Documents/ChatGPT/arm_eye/gesture_control/tests/test_gesture_control.py</a:t>
            </a:r>
          </a:p>
          <a:p xmlns:a="http://schemas.openxmlformats.org/drawingml/2006/main">
            <a:r>
              <a:t>- /Users/silverbrick/Documents/ChatGPT/arm_eye/platformio.ini</a:t>
            </a:r>
          </a:p>
          <a:p xmlns:a="http://schemas.openxmlformats.org/drawingml/2006/main">
            <a:r>
              <a:t>- /Users/silverbrick/Documents/ChatGPT/arm_eye/scripts/open_camera_after_upload.py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现有原型基础上，系统可以向四类场景扩展。第一是轻型物料的搬运和分拣；第二是在高温、粉尘等危险环境中，让操作者与机械臂保持距离；第三是康复训练和无接触辅助服务；第四是作为教学平台，验证视觉识别、串口通信和机器人控制算法。需要说明的是，这些属于后续应用方向，当前项目仍处于功能原型阶段。建议用时：40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/Users/silverbrick/Documents/ChatGPT/arm_eye/gesture_control/gesture_control.py</a:t>
            </a:r>
          </a:p>
          <a:p xmlns:a="http://schemas.openxmlformats.org/drawingml/2006/main">
            <a:r>
              <a:t>- /Users/silverbrick/Documents/ChatGPT/arm_eye/src/main.cpp</a:t>
            </a:r>
          </a:p>
          <a:p xmlns:a="http://schemas.openxmlformats.org/drawingml/2006/main">
            <a:r>
              <a:t>- /Users/silverbrick/Documents/ChatGPT/arm_eye/gesture_control/README.md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辩时建议用一分钟完成现场演示：启动、展示识别标签，再按风险从低到高演示待机、升降、旋转和抓取，最后长按复位。当前主要限制不在识别链路，而在机械夹爪的结构、摩擦力和抓取轨迹时长。下一步优先压缩轨迹并加入视觉目标定位或力反馈。建议用时：65秒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/Users/silverbrick/Documents/ChatGPT/arm_eye/src/gesture_trajectories.h</a:t>
            </a:r>
          </a:p>
          <a:p xmlns:a="http://schemas.openxmlformats.org/drawingml/2006/main">
            <a:r>
              <a:t>- /Users/silverbrick/Documents/ChatGPT/arm_eye/gesture_control/README.md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总结来说，arm 完成了机械臂可靠控制的</a:t>
            </a:r>
            <a:r>
              <a:t>基础</a:t>
            </a:r>
            <a:r>
              <a:t>，arm_eye 在此基础上实现了从视觉识别到安全执行的完整闭环。项目已经具备可演示、可测试和可继续扩展的工程基础。我的汇报结束，谢谢各位老师，请批评指正。建议用时：35秒。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/Users/silverbrick/Documents/ChatGPT/arm_eye/gesture_control/README.md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1981b74fb64f5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603e8daa734442c" /><Relationship Type="http://schemas.openxmlformats.org/officeDocument/2006/relationships/slideLayout" Target="/ppt/slideLayouts/slideLayout1.xml" Id="R8e28df1d2e36453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28df1d2e3645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ed4baba8084a29" /><Relationship Type="http://schemas.openxmlformats.org/officeDocument/2006/relationships/notesSlide" Target="/ppt/notesSlides/notesSlide1.xml" Id="R0b8b144150a347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add4839e6c4825" /><Relationship Type="http://schemas.openxmlformats.org/officeDocument/2006/relationships/notesSlide" Target="/ppt/notesSlides/notesSlide2.xml" Id="R2b94f5dcef9241a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5c39e837fc431c" /><Relationship Type="http://schemas.openxmlformats.org/officeDocument/2006/relationships/notesSlide" Target="/ppt/notesSlides/notesSlide3.xml" Id="R4cd87107db074f5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dce546ebbf49df" /><Relationship Type="http://schemas.openxmlformats.org/officeDocument/2006/relationships/notesSlide" Target="/ppt/notesSlides/notesSlide4.xml" Id="Rb12e8795546f4f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ccd64c6fdb4840" /><Relationship Type="http://schemas.openxmlformats.org/officeDocument/2006/relationships/notesSlide" Target="/ppt/notesSlides/notesSlide5.xml" Id="Rb0cfacd197394fe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74eba2c5154097" /><Relationship Type="http://schemas.openxmlformats.org/officeDocument/2006/relationships/notesSlide" Target="/ppt/notesSlides/notesSlide6.xml" Id="Rf9326c81c04c432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ee69da66e74075" /><Relationship Type="http://schemas.openxmlformats.org/officeDocument/2006/relationships/notesSlide" Target="/ppt/notesSlides/notesSlide7.xml" Id="Rcf0ebf75f32f40c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288083ac1e46fd" /><Relationship Type="http://schemas.openxmlformats.org/officeDocument/2006/relationships/notesSlide" Target="/ppt/notesSlides/notesSlide8.xml" Id="R4809b92a5cdf444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b2bd651b5c4477" /><Relationship Type="http://schemas.openxmlformats.org/officeDocument/2006/relationships/notesSlide" Target="/ppt/notesSlides/notesSlide9.xml" Id="R34bf33d9f5644fd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c3364e94164e08" /><Relationship Type="http://schemas.openxmlformats.org/officeDocument/2006/relationships/notesSlide" Target="/ppt/notesSlides/notesSlide10.xml" Id="R63c83b501d11436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8efa50ba384650" /><Relationship Type="http://schemas.openxmlformats.org/officeDocument/2006/relationships/notesSlide" Target="/ppt/notesSlides/notesSlide11.xml" Id="Rb30ba0ff855347d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D405CF9B-A35C-4826-B0AD-AA5D1E38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视觉手势驱动的
</a:t>
            </a:r>
            <a:r>
              <a:rPr sz="4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四自由度机械臂控制系统</a:t>
            </a:r>
            <a:endParaRPr sz="4350" b="1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D36CD661-8E46-40BE-B6B3-EB97E8EAA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arm 与 arm_eye 项目答辩
</a:t>
            </a:r>
            <a:r>
              <a:rPr sz="1575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答辩人：</a:t>
            </a:r>
            <a:r>
              <a:rPr sz="1575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姜定鑫</a:t>
            </a:r>
            <a:r>
              <a:rPr sz="1575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    2026年8月</a:t>
            </a:r>
            <a:r>
              <a:rPr sz="1575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27</a:t>
            </a:r>
            <a:r>
              <a:rPr sz="1575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日</a:t>
            </a:r>
            <a:endParaRPr sz="1575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C0FFCD3F-8A3A-46A5-AFD7-5F767D34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PROJECT DEFENSE · 10 MIN</a:t>
            </a:r>
            <a:endParaRPr sz="1500" b="1">
              <a:solidFill>
                <a:srgbClr val="3D8DFF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34350148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2EAE8F10-4CED-42DC-8E31-FAEEF6131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02</a:t>
            </a:r>
            <a:endParaRPr sz="1000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69D725CA-9E7C-4E13-8413-680D6755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01  从示教复现到自然交互</a:t>
            </a:r>
            <a:endParaRPr sz="2900" b="1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7866CD8C-0D0F-4F08-82B3-41EB9DB8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arm｜基础控制</a:t>
            </a:r>
            <a:endParaRPr sz="2250" b="1">
              <a:solidFill>
                <a:srgbClr val="3D8DFF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电位器实时映射四个舵机
按钮完成动作录制与回放
解决“机械臂如何稳定运动”</a:t>
            </a:r>
            <a:endParaRPr sz="1500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E0BF1950-1996-44A1-97D2-D69726559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arm_eye｜视觉扩展</a:t>
            </a:r>
            <a:endParaRPr sz="2250" b="1">
              <a:solidFill>
                <a:srgbClr val="3D8DFF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电脑</a:t>
            </a:r>
            <a:r>
              <a:rPr sz="15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连接手机</a:t>
            </a:r>
            <a:r>
              <a:rPr sz="15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摄像头识别手势
串口发送动作指令给 ESP32
解决“人如何更自然地控制机械臂”</a:t>
            </a:r>
            <a:endParaRPr sz="1500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accent-evolution">
            <a:extLst xmlns:a="http://schemas.openxmlformats.org/drawingml/2006/main">
              <a:ext uri="{FF2B5EF4-FFF2-40B4-BE49-F238E27FC236}">
                <a16:creationId xmlns:a16="http://schemas.microsoft.com/office/drawing/2014/main" id="{A0ACDDFB-24D7-45DE-B17C-E2E34B0A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66850"/>
            <a:ext cx="742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4878389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A3A740E3-C3E2-42F1-ACD3-B1F41E4FC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03</a:t>
            </a:r>
            <a:endParaRPr sz="1000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8937DA09-7269-425B-BCF8-8E435F28D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02  arm 项目：建立可靠的四轴控制底座</a:t>
            </a:r>
            <a:endParaRPr sz="2900" b="1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6B71CA58-802C-4BA3-AC58-90FDD4DC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四关节同步</a:t>
            </a:r>
            <a:endParaRPr sz="1950" b="1">
              <a:solidFill>
                <a:srgbClr val="3D8DFF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9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J1–J4 分别读取电位器，并驱动对应舵机。</a:t>
            </a:r>
            <a:endParaRPr sz="1390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96F8985C-8368-4FE9-B12F-BAA446EA8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安全角度</a:t>
            </a:r>
            <a:endParaRPr sz="1950" b="1">
              <a:solidFill>
                <a:srgbClr val="3D8DFF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9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J1：30–150°；J2/J3/J4：60–160°。</a:t>
            </a:r>
            <a:endParaRPr sz="1390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B8680469-646F-429D-8FF8-6F23DB19E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示教录制</a:t>
            </a:r>
            <a:endParaRPr sz="1950" b="1">
              <a:solidFill>
                <a:srgbClr val="3D8DFF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9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按钮</a:t>
            </a:r>
            <a:r>
              <a:rPr sz="139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 单击开始或停止，保存完整运动过程。</a:t>
            </a:r>
            <a:endParaRPr sz="1390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0CC7ACF2-9BAD-4023-A261-B3C37290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动作回放</a:t>
            </a:r>
            <a:endParaRPr sz="1950" b="1">
              <a:solidFill>
                <a:srgbClr val="3D8DFF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9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双击按钮按记录帧顺序复现机械臂动作。</a:t>
            </a:r>
            <a:endParaRPr sz="1390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accent-arm">
            <a:extLst xmlns:a="http://schemas.openxmlformats.org/drawingml/2006/main">
              <a:ext uri="{FF2B5EF4-FFF2-40B4-BE49-F238E27FC236}">
                <a16:creationId xmlns:a16="http://schemas.microsoft.com/office/drawing/2014/main" id="{DFDA513D-BB09-4F51-AF22-6DAF5196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66850"/>
            <a:ext cx="742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1901403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7A9787BA-88F9-48FF-8498-15A496148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04</a:t>
            </a:r>
            <a:endParaRPr sz="1000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CF3C3246-96AE-4B2E-ADAA-A364964DE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03  arm_eye：构建“看见—判断—执行”闭环</a:t>
            </a:r>
            <a:endParaRPr sz="2900" b="1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Content-Placeholder-10-4">
            <a:extLst xmlns:a="http://schemas.openxmlformats.org/drawingml/2006/main">
              <a:ext uri="{FF2B5EF4-FFF2-40B4-BE49-F238E27FC236}">
                <a16:creationId xmlns:a16="http://schemas.microsoft.com/office/drawing/2014/main" id="{188F8427-B795-4771-AEEF-3F6DE123A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8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6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OpenCV 读取</a:t>
            </a:r>
            <a:r>
              <a:rPr sz="146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手机</a:t>
            </a:r>
            <a:r>
              <a:rPr sz="146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摄像头画面</a:t>
            </a:r>
            <a:endParaRPr sz="1465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B9AE363F-9AB6-4A13-8B48-D767E4577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23748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 采集</a:t>
            </a:r>
            <a:endParaRPr sz="1725" b="1">
              <a:solidFill>
                <a:srgbClr val="3D8D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Content-Placeholder-10-6">
            <a:extLst xmlns:a="http://schemas.openxmlformats.org/drawingml/2006/main">
              <a:ext uri="{FF2B5EF4-FFF2-40B4-BE49-F238E27FC236}">
                <a16:creationId xmlns:a16="http://schemas.microsoft.com/office/drawing/2014/main" id="{34CB913D-2571-4437-B557-1ED053F15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4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6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MediaPipe GestureRecognizer 输出类别与置信度</a:t>
            </a:r>
            <a:endParaRPr sz="1465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5FF5A06B-4642-4AA7-9605-9F472E933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33654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 识别</a:t>
            </a:r>
            <a:endParaRPr sz="1725" b="1">
              <a:solidFill>
                <a:srgbClr val="3D8D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C06710B6-53C1-4C15-9B6D-4C9D407D5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0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6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PySerial 将单字符命令发送到固定端口</a:t>
            </a:r>
            <a:endParaRPr sz="1465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8" name="Content-Placeholder-10-9">
            <a:extLst xmlns:a="http://schemas.openxmlformats.org/drawingml/2006/main">
              <a:ext uri="{FF2B5EF4-FFF2-40B4-BE49-F238E27FC236}">
                <a16:creationId xmlns:a16="http://schemas.microsoft.com/office/drawing/2014/main" id="{86DA6350-6FCF-4101-9515-39D6E0ADB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43560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 通信</a:t>
            </a:r>
            <a:endParaRPr sz="1725" b="1">
              <a:solidFill>
                <a:srgbClr val="3D8D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E6D64F01-3B23-4740-A3C6-7105C267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32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6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ESP32 将指令转换为安全、平滑的舵机运动</a:t>
            </a:r>
            <a:endParaRPr sz="1465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0" name="Content-Placeholder-10-11">
            <a:extLst xmlns:a="http://schemas.openxmlformats.org/drawingml/2006/main">
              <a:ext uri="{FF2B5EF4-FFF2-40B4-BE49-F238E27FC236}">
                <a16:creationId xmlns:a16="http://schemas.microsoft.com/office/drawing/2014/main" id="{F96709D7-0D4C-4606-BECC-64041486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5359432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 执行</a:t>
            </a:r>
            <a:endParaRPr sz="1725" b="1">
              <a:solidFill>
                <a:srgbClr val="3D8D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Google-Shape-534-p58-12">
            <a:extLst xmlns:a="http://schemas.openxmlformats.org/drawingml/2006/main">
              <a:ext uri="{FF2B5EF4-FFF2-40B4-BE49-F238E27FC236}">
                <a16:creationId xmlns:a16="http://schemas.microsoft.com/office/drawing/2014/main" id="{005F77D0-A356-43DC-B0F5-C3D4E38DA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374868"/>
            <a:ext cx="3568732" cy="361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控制链路</a:t>
            </a:r>
            <a:endParaRPr sz="2250" b="1">
              <a:solidFill>
                <a:srgbClr val="3D8DFF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MacBook </a:t>
            </a:r>
            <a:r>
              <a:rPr sz="17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连接</a:t>
            </a:r>
            <a:r>
              <a:rPr sz="17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 iPhone</a:t>
            </a:r>
            <a:r>
              <a:rPr sz="17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后置</a:t>
            </a:r>
            <a:r>
              <a:rPr sz="17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摄像头
→ MediaPipe
→ 串口命令
→ ESP32
→ 四轴机械臂</a:t>
            </a:r>
            <a:endParaRPr sz="1725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识别与执行解耦，便于独立调试。</a:t>
            </a:r>
            <a:endParaRPr sz="1350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accent-architecture">
            <a:extLst xmlns:a="http://schemas.openxmlformats.org/drawingml/2006/main">
              <a:ext uri="{FF2B5EF4-FFF2-40B4-BE49-F238E27FC236}">
                <a16:creationId xmlns:a16="http://schemas.microsoft.com/office/drawing/2014/main" id="{53D3E449-E2FF-4B03-87D0-FC471A556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66850"/>
            <a:ext cx="742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3327454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04FD97C7-D0AE-4BC7-AA0D-D4B1076C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05</a:t>
            </a:r>
            <a:endParaRPr sz="1000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2C381672-7D7A-4FD4-9851-33FC999F3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04  硬件映射与关节校准</a:t>
            </a:r>
            <a:endParaRPr sz="2900" b="1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2D89086A-3E6D-4A5C-99BD-9E424388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J1｜底座旋转</a:t>
            </a:r>
            <a:endParaRPr sz="1950" b="1">
              <a:solidFill>
                <a:srgbClr val="3D8DFF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9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电位器 GPIO34 · 舵机 GPIO18
安全范围 30–150°</a:t>
            </a:r>
            <a:endParaRPr sz="1390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25611FBB-F373-44C6-99BF-B27DBBEFC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J2｜姿态稳定</a:t>
            </a:r>
            <a:endParaRPr sz="1950" b="1">
              <a:solidFill>
                <a:srgbClr val="3D8DFF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9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电位器 GPIO35 · 舵机 GPIO5
G 动作中固定为 78°</a:t>
            </a:r>
            <a:endParaRPr sz="1390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D1E82E2E-45B2-4D3D-9EA6-04AD9258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J3｜抬升关节</a:t>
            </a:r>
            <a:endParaRPr sz="1950" b="1">
              <a:solidFill>
                <a:srgbClr val="3D8DFF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9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电位器 GPIO32 · 舵机 GPIO17
安全范围 60–160°</a:t>
            </a:r>
            <a:endParaRPr sz="1390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EC7E4E37-AD9E-48DA-8F1D-CF3FB4251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J4｜末端夹爪</a:t>
            </a:r>
            <a:endParaRPr sz="1950" b="1">
              <a:solidFill>
                <a:srgbClr val="3D8DFF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9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电位器 GPIO33 · 舵机 GPIO16
安全范围 60–160°</a:t>
            </a:r>
            <a:endParaRPr sz="1390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accent-hardware">
            <a:extLst xmlns:a="http://schemas.openxmlformats.org/drawingml/2006/main">
              <a:ext uri="{FF2B5EF4-FFF2-40B4-BE49-F238E27FC236}">
                <a16:creationId xmlns:a16="http://schemas.microsoft.com/office/drawing/2014/main" id="{9866A6CB-8B88-46C7-9418-A7053290E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66850"/>
            <a:ext cx="742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2188983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E77D27CD-CEC9-488F-B19C-E2E027E19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06</a:t>
            </a:r>
            <a:endParaRPr sz="1000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F06F3110-4401-4668-8453-1DF9E122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05  五种手势映射为可解释动作</a:t>
            </a:r>
            <a:endParaRPr sz="2900" b="1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Content-Placeholder-10-4">
            <a:extLst xmlns:a="http://schemas.openxmlformats.org/drawingml/2006/main">
              <a:ext uri="{FF2B5EF4-FFF2-40B4-BE49-F238E27FC236}">
                <a16:creationId xmlns:a16="http://schemas.microsoft.com/office/drawing/2014/main" id="{61E8722F-B4AC-4704-A5D8-76AB95B30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8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9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G｜J4 </a:t>
            </a:r>
            <a:r>
              <a:rPr sz="139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控制</a:t>
            </a:r>
            <a:r>
              <a:rPr sz="139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爪夹关闭</a:t>
            </a:r>
            <a:endParaRPr sz="1390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523BCB78-B10C-4C53-9DE8-0B25BE87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23748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Closed_Fist</a:t>
            </a:r>
            <a:endParaRPr sz="1575" b="1">
              <a:solidFill>
                <a:srgbClr val="3D8D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Content-Placeholder-10-6">
            <a:extLst xmlns:a="http://schemas.openxmlformats.org/drawingml/2006/main">
              <a:ext uri="{FF2B5EF4-FFF2-40B4-BE49-F238E27FC236}">
                <a16:creationId xmlns:a16="http://schemas.microsoft.com/office/drawing/2014/main" id="{1F7A3D86-E5D9-4893-8750-1D3D01E0F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4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9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U｜J3 以当前位置为基准逆时针 15°</a:t>
            </a:r>
            <a:endParaRPr sz="1390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09E05855-AD35-4B4A-85C6-BD0A7A0E8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33654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Pointing_Up</a:t>
            </a:r>
            <a:endParaRPr sz="1575" b="1">
              <a:solidFill>
                <a:srgbClr val="3D8D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F716AB99-A4D2-4DCF-92A9-FF4D1BE5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0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9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D｜U 的反动作，J3 顺时针 15°</a:t>
            </a:r>
            <a:endParaRPr sz="1390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8" name="Content-Placeholder-10-9">
            <a:extLst xmlns:a="http://schemas.openxmlformats.org/drawingml/2006/main">
              <a:ext uri="{FF2B5EF4-FFF2-40B4-BE49-F238E27FC236}">
                <a16:creationId xmlns:a16="http://schemas.microsoft.com/office/drawing/2014/main" id="{73292CFA-78C8-48DF-8167-3052EF08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43560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Thumb_Down</a:t>
            </a:r>
            <a:endParaRPr sz="1575" b="1">
              <a:solidFill>
                <a:srgbClr val="3D8D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C1E1DF74-ECDC-4C7B-8ADA-2E62D87E5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32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9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R｜J1 控制底座旋转到预设安全位置</a:t>
            </a:r>
            <a:endParaRPr sz="1390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0" name="Content-Placeholder-10-11">
            <a:extLst xmlns:a="http://schemas.openxmlformats.org/drawingml/2006/main">
              <a:ext uri="{FF2B5EF4-FFF2-40B4-BE49-F238E27FC236}">
                <a16:creationId xmlns:a16="http://schemas.microsoft.com/office/drawing/2014/main" id="{DBB35795-9766-465C-8128-EA8AF93F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5359432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Victory</a:t>
            </a:r>
            <a:endParaRPr sz="1575" b="1">
              <a:solidFill>
                <a:srgbClr val="3D8D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Google-Shape-534-p58-12">
            <a:extLst xmlns:a="http://schemas.openxmlformats.org/drawingml/2006/main">
              <a:ext uri="{FF2B5EF4-FFF2-40B4-BE49-F238E27FC236}">
                <a16:creationId xmlns:a16="http://schemas.microsoft.com/office/drawing/2014/main" id="{F2BC4560-61CD-4A44-B28D-412BF45C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374868"/>
            <a:ext cx="3568732" cy="361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7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Open_Palm → S</a:t>
            </a:r>
            <a:endParaRPr sz="2100" b="1">
              <a:solidFill>
                <a:srgbClr val="3D8DFF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待机 / 松开
J4 调整到最大安全角 160°
其他关节保持</a:t>
            </a:r>
            <a:endParaRPr sz="1575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无手 10 帧后也自动发送 S。</a:t>
            </a:r>
            <a:endParaRPr sz="1350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accent-gestures">
            <a:extLst xmlns:a="http://schemas.openxmlformats.org/drawingml/2006/main">
              <a:ext uri="{FF2B5EF4-FFF2-40B4-BE49-F238E27FC236}">
                <a16:creationId xmlns:a16="http://schemas.microsoft.com/office/drawing/2014/main" id="{DFA0A18C-CED3-42BF-9C9C-B42E8D67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66850"/>
            <a:ext cx="742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9417359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B0429132-85D9-4BB5-87A7-D0CE3760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07</a:t>
            </a:r>
            <a:endParaRPr sz="1000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5DFF0729-9E63-4201-821D-86BFC52A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06  安全性：识别过滤 + 运动约束</a:t>
            </a:r>
            <a:endParaRPr sz="2900" b="1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98881EA3-6249-4816-B253-DD3C0B5B3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置信度门槛</a:t>
            </a:r>
            <a:endParaRPr sz="1950" b="1">
              <a:solidFill>
                <a:srgbClr val="3D8DFF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9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识别置信度 ≥ 0.65 才进入候选状态。</a:t>
            </a:r>
            <a:endParaRPr sz="1390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ABABCBF9-FB53-40D4-8A04-D919A2018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连续帧确认</a:t>
            </a:r>
            <a:endParaRPr sz="1950" b="1">
              <a:solidFill>
                <a:srgbClr val="3D8DFF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9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同一手势稳定 4 帧后才发送命令。</a:t>
            </a:r>
            <a:endParaRPr sz="1390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C56E5A53-C0E0-4393-8CB8-65792321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平滑限速</a:t>
            </a:r>
            <a:endParaRPr sz="1950" b="1">
              <a:solidFill>
                <a:srgbClr val="3D8DFF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9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每 20 ms 最大变化 2°，减少舵机突跳。</a:t>
            </a:r>
            <a:endParaRPr sz="1390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DBB1CFC8-BE90-48D8-BD67-94F2785D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硬件复位</a:t>
            </a:r>
            <a:endParaRPr sz="1950" b="1">
              <a:solidFill>
                <a:srgbClr val="3D8DFF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9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按钮</a:t>
            </a:r>
            <a:r>
              <a:rPr sz="139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 长按 2 秒，四轴平滑回到 90°。</a:t>
            </a:r>
            <a:endParaRPr sz="1390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accent-safety">
            <a:extLst xmlns:a="http://schemas.openxmlformats.org/drawingml/2006/main">
              <a:ext uri="{FF2B5EF4-FFF2-40B4-BE49-F238E27FC236}">
                <a16:creationId xmlns:a16="http://schemas.microsoft.com/office/drawing/2014/main" id="{D52E48B9-A1F8-40DC-A936-D3F818380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66850"/>
            <a:ext cx="742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0769642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87920974-3C21-4BD8-A6DD-B7C3E2EC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20FF941D-EA0D-4CEA-8323-6C16DBB9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D082E6F1-2342-4100-97B4-20779F17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00C4AC69-19A3-4019-9695-ADEA5822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08</a:t>
            </a:r>
            <a:endParaRPr sz="1000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885A8B78-6272-4329-8124-4212E266D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07  工程验证：可构建、可测试、可一键运行</a:t>
            </a:r>
            <a:endParaRPr sz="2900" b="1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EF976BFD-8B38-4200-BDFB-BB63AD3B0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Python 单元测试
全部通过</a:t>
            </a:r>
            <a:endParaRPr sz="1500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B3FD34B9-4733-4459-BE32-091B4BA2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ESP32 Flash
占用率</a:t>
            </a:r>
            <a:endParaRPr sz="1500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BABBA1C2-D69C-4D33-B8B0-9DAD1469F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ESP32 RAM
占用率</a:t>
            </a:r>
            <a:endParaRPr sz="1500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4F23BC3A-DAFE-4A86-BAA9-96F64888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17</a:t>
            </a:r>
            <a:endParaRPr sz="4050" b="1">
              <a:solidFill>
                <a:srgbClr val="3D8D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61B770F6-F51E-42D6-A0E0-A467B2F1B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9.7%</a:t>
            </a:r>
            <a:endParaRPr sz="4050" b="1">
              <a:solidFill>
                <a:srgbClr val="3D8D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53EC8B59-E174-4167-AE62-8251E610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22.5%</a:t>
            </a:r>
            <a:endParaRPr sz="4050" b="1">
              <a:solidFill>
                <a:srgbClr val="3D8D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C22DB289-454B-486C-BA3E-59307CBB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76375"/>
            <a:ext cx="11404568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45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验证结论</a:t>
            </a:r>
            <a:endParaRPr sz="1650" b="1">
              <a:solidFill>
                <a:srgbClr val="3D8DFF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1.</a:t>
            </a:r>
            <a:r>
              <a:rPr sz="15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固件通过 PlatformIO 构建；</a:t>
            </a:r>
            <a:endParaRPr sz="1500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2</a:t>
            </a:r>
            <a:r>
              <a:rPr sz="15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识别逻辑有自动化测试；</a:t>
            </a:r>
            <a:endParaRPr sz="1500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3.</a:t>
            </a:r>
            <a:r>
              <a:rPr sz="15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macOS 启动器</a:t>
            </a:r>
            <a:r>
              <a:rPr sz="15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app</a:t>
            </a:r>
            <a:r>
              <a:rPr sz="15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可</a:t>
            </a:r>
            <a:r>
              <a:rPr sz="15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一键</a:t>
            </a:r>
            <a:r>
              <a:rPr sz="15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完成烧录并自动开启摄像头识别。</a:t>
            </a:r>
            <a:endParaRPr sz="1500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71464128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B0429132-85D9-4BB5-87A7-D0CE3760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09</a:t>
            </a:r>
            <a:endParaRPr sz="1000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5DFF0729-9E63-4201-821D-86BFC52A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08  应用前景：从手势控制走向人机协作</a:t>
            </a:r>
            <a:endParaRPr sz="2900" b="1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98881EA3-6249-4816-B253-DD3C0B5B3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工业分拣</a:t>
            </a:r>
            <a:endParaRPr sz="1950" b="1">
              <a:solidFill>
                <a:srgbClr val="3D8DFF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9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通过手势选择动作，可用于轻型物料搬运与分类。</a:t>
            </a:r>
            <a:endParaRPr sz="1390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ABABCBF9-FB53-40D4-8A04-D919A2018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危险环境</a:t>
            </a:r>
            <a:endParaRPr sz="1950" b="1">
              <a:solidFill>
                <a:srgbClr val="3D8DFF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9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操作者保持安全距离，远程控制机械臂完成简单操作。</a:t>
            </a:r>
            <a:endParaRPr sz="1390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C56E5A53-C0E0-4393-8CB8-65792321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辅助服务</a:t>
            </a:r>
            <a:endParaRPr sz="1950" b="1">
              <a:solidFill>
                <a:srgbClr val="3D8DFF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9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可扩展到康复训练、无接触辅助和基础生活服务。</a:t>
            </a:r>
            <a:endParaRPr sz="1390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DBB1CFC8-BE90-48D8-BD67-94F2785D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5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教学科研</a:t>
            </a:r>
            <a:endParaRPr sz="1950" b="1">
              <a:solidFill>
                <a:srgbClr val="3D8DFF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9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用于验证视觉识别、串口通信和机器人控制算法。</a:t>
            </a:r>
            <a:endParaRPr sz="1390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accent-safety">
            <a:extLst xmlns:a="http://schemas.openxmlformats.org/drawingml/2006/main">
              <a:ext uri="{FF2B5EF4-FFF2-40B4-BE49-F238E27FC236}">
                <a16:creationId xmlns:a16="http://schemas.microsoft.com/office/drawing/2014/main" id="{D52E48B9-A1F8-40DC-A936-D3F818380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66850"/>
            <a:ext cx="742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0769642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2908737C-4F83-4592-9237-21D664A06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10</a:t>
            </a:r>
            <a:endParaRPr sz="1000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8426521D-B2C2-4FA1-95ED-0FC552C9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  现场演示路径与后续优化</a:t>
            </a:r>
            <a:endParaRPr sz="2900" b="1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9ADF5F66-0A79-41E8-953D-44078D63D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演示路径｜约 60 秒</a:t>
            </a:r>
            <a:endParaRPr sz="2175" b="1">
              <a:solidFill>
                <a:srgbClr val="3D8DFF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1. 双击启动器并完成烧录
2. 摄像头显示识别标签
3. 依次演示 S、U/D、R、G
4. 长按按钮完成安全复位</a:t>
            </a:r>
            <a:endParaRPr sz="1425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7B711FB2-C187-4DBA-8F35-CB1E02B7B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65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当前限制｜可继续迭代</a:t>
            </a:r>
            <a:endParaRPr sz="2175" b="1">
              <a:solidFill>
                <a:srgbClr val="3D8DFF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抓取效果受夹爪结构与摩擦力影响
依赖摄像头权限</a:t>
            </a:r>
            <a:r>
              <a:rPr sz="14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、</a:t>
            </a:r>
            <a:r>
              <a:rPr sz="14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固定串口</a:t>
            </a:r>
            <a:r>
              <a:rPr sz="14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以及外部设备</a:t>
            </a:r>
            <a:r>
              <a:rPr sz="14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
下一步：</a:t>
            </a:r>
            <a:r>
              <a:rPr sz="14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改进机械结构达到更理想的抓取</a:t>
            </a:r>
            <a:r>
              <a:rPr sz="14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效果</a:t>
            </a:r>
            <a:endParaRPr sz="1425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              </a:t>
            </a:r>
            <a:r>
              <a:rPr sz="14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添加</a:t>
            </a:r>
            <a:r>
              <a:rPr sz="14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自带摄像头</a:t>
            </a:r>
            <a:endParaRPr sz="1425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              </a:t>
            </a:r>
            <a:r>
              <a:rPr sz="14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单片机联网调用</a:t>
            </a:r>
            <a:r>
              <a:rPr sz="14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api，</a:t>
            </a:r>
            <a:r>
              <a:rPr sz="14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去除对</a:t>
            </a:r>
            <a:r>
              <a:rPr sz="1425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外部设备的依赖</a:t>
            </a:r>
            <a:endParaRPr sz="1425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accent-demo">
            <a:extLst xmlns:a="http://schemas.openxmlformats.org/drawingml/2006/main">
              <a:ext uri="{FF2B5EF4-FFF2-40B4-BE49-F238E27FC236}">
                <a16:creationId xmlns:a16="http://schemas.microsoft.com/office/drawing/2014/main" id="{1C75539C-9C2E-4D4A-BBBC-0EF08B61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66850"/>
            <a:ext cx="742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5036152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F53975BF-1C06-4B10-A427-1BE9E472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从可靠控制，
</a:t>
            </a:r>
            <a:r>
              <a:rPr sz="4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走向自然交互。</a:t>
            </a:r>
            <a:endParaRPr sz="4800" b="1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C38CDD4D-FAED-4CE1-9745-84E667037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arm：安全、录制、回放</a:t>
            </a:r>
            <a:endParaRPr sz="1650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F6368"/>
                </a:solidFill>
                <a:latin typeface="Helvetica Neue"/>
                <a:ea typeface="Helvetica Neue"/>
                <a:cs typeface="Helvetica Neue"/>
              </a:rPr>
              <a:t>arm_eye：视觉、串口、手势闭环</a:t>
            </a:r>
            <a:endParaRPr sz="1650" b="0">
              <a:solidFill>
                <a:srgbClr val="5F6368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谢谢各位老师，请提问。</a:t>
            </a:r>
            <a:endParaRPr sz="1650" b="1">
              <a:solidFill>
                <a:srgbClr val="3D8D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8389C534-EE34-4BD4-81C8-0F00FC58A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CONCLUSION</a:t>
            </a:r>
            <a:endParaRPr sz="1500" b="1">
              <a:solidFill>
                <a:srgbClr val="3D8DFF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3726310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2026-08-27T02:22:17.5880000Z</dcterms:created>
  <dcterms:modified xsi:type="dcterms:W3CDTF">2026-08-27T02:22:17.5880000Z</dcterms:modified>
</coreProperties>
</file>