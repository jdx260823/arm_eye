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fc49bc1e8451e" /><Relationship Type="http://schemas.openxmlformats.org/officeDocument/2006/relationships/extended-properties" Target="/docProps/app.xml" Id="Rd75dd25fa6e14205" /><Relationship Type="http://schemas.openxmlformats.org/officeDocument/2006/relationships/officeDocument" Target="/ppt/presentation.xml" Id="Rae6834dba8f4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e289e09314ce0"/>
  </p:sldMasterIdLst>
  <p:notesMasterIdLst>
    <p:notesMasterId xmlns:r="http://schemas.openxmlformats.org/officeDocument/2006/relationships" r:id="Rcd2581d87df04513"/>
  </p:notesMasterIdLst>
  <p:sldIdLst>
    <p:sldId xmlns:r="http://schemas.openxmlformats.org/officeDocument/2006/relationships" id="256" r:id="Re8919c41e5bb4d22"/>
    <p:sldId xmlns:r="http://schemas.openxmlformats.org/officeDocument/2006/relationships" id="257" r:id="Re3f6307a7e78470c"/>
    <p:sldId xmlns:r="http://schemas.openxmlformats.org/officeDocument/2006/relationships" id="258" r:id="Ra86a5987ce114760"/>
    <p:sldId xmlns:r="http://schemas.openxmlformats.org/officeDocument/2006/relationships" id="259" r:id="Rca8248839fa04426"/>
    <p:sldId xmlns:r="http://schemas.openxmlformats.org/officeDocument/2006/relationships" id="260" r:id="Refa59dcf9a554fa8"/>
    <p:sldId xmlns:r="http://schemas.openxmlformats.org/officeDocument/2006/relationships" id="261" r:id="Rfa030e7d8f4946fe"/>
    <p:sldId xmlns:r="http://schemas.openxmlformats.org/officeDocument/2006/relationships" id="262" r:id="R5a391587cece49b1"/>
    <p:sldId xmlns:r="http://schemas.openxmlformats.org/officeDocument/2006/relationships" id="263" r:id="R6e08c12373ae4260"/>
    <p:sldId xmlns:r="http://schemas.openxmlformats.org/officeDocument/2006/relationships" id="264" r:id="Rcbddaa3b583e4790"/>
    <p:sldId xmlns:r="http://schemas.openxmlformats.org/officeDocument/2006/relationships" id="265" r:id="R95c0c3e81c52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28731cc5b4ee6" /><Relationship Type="http://schemas.openxmlformats.org/officeDocument/2006/relationships/slideMaster" Target="/ppt/slideMasters/slideMaster1.xml" Id="Rc92e289e09314ce0" /><Relationship Type="http://schemas.openxmlformats.org/officeDocument/2006/relationships/notesMaster" Target="/ppt/notesMasters/notesMaster1.xml" Id="Rcd2581d87df04513" /><Relationship Type="http://schemas.openxmlformats.org/officeDocument/2006/relationships/presProps" Target="/ppt/presProps.xml" Id="Rb596385cd9a342f5" /><Relationship Type="http://schemas.openxmlformats.org/officeDocument/2006/relationships/viewProps" Target="/ppt/viewProps.xml" Id="R860d137ac83f4fef" /><Relationship Type="http://schemas.openxmlformats.org/officeDocument/2006/relationships/tableStyles" Target="/ppt/tableStyles.xml" Id="R1d4f8012feae4785" /><Relationship Type="http://schemas.openxmlformats.org/officeDocument/2006/relationships/slide" Target="/ppt/slides/slide1.xml" Id="Re8919c41e5bb4d22" /><Relationship Type="http://schemas.openxmlformats.org/officeDocument/2006/relationships/slide" Target="/ppt/slides/slide2.xml" Id="Re3f6307a7e78470c" /><Relationship Type="http://schemas.openxmlformats.org/officeDocument/2006/relationships/slide" Target="/ppt/slides/slide3.xml" Id="Ra86a5987ce114760" /><Relationship Type="http://schemas.openxmlformats.org/officeDocument/2006/relationships/slide" Target="/ppt/slides/slide4.xml" Id="Rca8248839fa04426" /><Relationship Type="http://schemas.openxmlformats.org/officeDocument/2006/relationships/slide" Target="/ppt/slides/slide5.xml" Id="Refa59dcf9a554fa8" /><Relationship Type="http://schemas.openxmlformats.org/officeDocument/2006/relationships/slide" Target="/ppt/slides/slide6.xml" Id="Rfa030e7d8f4946fe" /><Relationship Type="http://schemas.openxmlformats.org/officeDocument/2006/relationships/slide" Target="/ppt/slides/slide7.xml" Id="R5a391587cece49b1" /><Relationship Type="http://schemas.openxmlformats.org/officeDocument/2006/relationships/slide" Target="/ppt/slides/slide8.xml" Id="R6e08c12373ae4260" /><Relationship Type="http://schemas.openxmlformats.org/officeDocument/2006/relationships/slide" Target="/ppt/slides/slide9.xml" Id="Rcbddaa3b583e4790" /><Relationship Type="http://schemas.openxmlformats.org/officeDocument/2006/relationships/slide" Target="/ppt/slides/slide10.xml" Id="R95c0c3e81c52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88e265b2c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4606f21254106" /><Relationship Type="http://schemas.openxmlformats.org/officeDocument/2006/relationships/notesMaster" Target="/ppt/notesMasters/notesMaster1.xml" Id="Re607e3f22cae44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164ad23424c4c" /><Relationship Type="http://schemas.openxmlformats.org/officeDocument/2006/relationships/notesMaster" Target="/ppt/notesMasters/notesMaster1.xml" Id="R5ff86ea570904a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ab5fb86714b3a" /><Relationship Type="http://schemas.openxmlformats.org/officeDocument/2006/relationships/notesMaster" Target="/ppt/notesMasters/notesMaster1.xml" Id="R7d5785a2c608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ad860c44f4bd5" /><Relationship Type="http://schemas.openxmlformats.org/officeDocument/2006/relationships/notesMaster" Target="/ppt/notesMasters/notesMaster1.xml" Id="Rbc773b0bce9548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57e2cb2f834b34" /><Relationship Type="http://schemas.openxmlformats.org/officeDocument/2006/relationships/notesMaster" Target="/ppt/notesMasters/notesMaster1.xml" Id="Re5d028bee3bc4a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1631e2781d47a3" /><Relationship Type="http://schemas.openxmlformats.org/officeDocument/2006/relationships/notesMaster" Target="/ppt/notesMasters/notesMaster1.xml" Id="Rb7214d3d9c4241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35ec165014128" /><Relationship Type="http://schemas.openxmlformats.org/officeDocument/2006/relationships/notesMaster" Target="/ppt/notesMasters/notesMaster1.xml" Id="R926e35a0fd874b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1af90ee2de49a9" /><Relationship Type="http://schemas.openxmlformats.org/officeDocument/2006/relationships/notesMaster" Target="/ppt/notesMasters/notesMaster1.xml" Id="Rc4aa20b2768040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db0713f17a429b" /><Relationship Type="http://schemas.openxmlformats.org/officeDocument/2006/relationships/notesMaster" Target="/ppt/notesMasters/notesMaster1.xml" Id="Rd3836c2bfba74b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50a8a811fc4310" /><Relationship Type="http://schemas.openxmlformats.org/officeDocument/2006/relationships/notesMaster" Target="/ppt/notesMasters/notesMaster1.xml" Id="R6e9852892553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大家好，我汇报的题目是《视觉手势驱动的四自由度机械臂控制系统》。项目由 arm 基础控制程序和 arm_eye 视觉控制扩展组成。接下来我将从项目演进、系统实现、安全机制和测试结果四个方面进行说明。建议用时：35秒。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/Users/silverbrick/Documents/ChatGPT/arm_eye/src/main.cpp</a:t>
            </a:r>
          </a:p>
          <a:p xmlns:a="http://schemas.openxmlformats.org/drawingml/2006/main">
            <a:r>
              <a:t>- /Users/silverbrick/Documents/PlatformIO/Projects/arm/src/main.cpp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这两个项目是继承关系。arm 首先完成四轴安全控制、动作录制和回放；arm_eye 不改动 arm，而是在其可靠控制基础上增加视觉识别和串口命令层。核心变化是把输入方式从机械电位器扩展成自然手势。建议用时：55秒。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/Users/silverbrick/Documents/PlatformIO/Projects/arm/src/main.cpp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 项目的价值是建立四轴控制底座。四个关节分别读取电位器信号并驱动对应舵机，ADC 输入会先经过范围标定，再映射为关节目标角度。按钮支持动作录制和回放，而且保存的是完整运动过程，因此可以复现连续轨迹。安全保护机制将在后面的独立章节中说明。建议用时：50秒。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/Users/silverbrick/Documents/PlatformIO/Projects/arm/src/main.cpp:20</a:t>
            </a:r>
          </a:p>
          <a:p xmlns:a="http://schemas.openxmlformats.org/drawingml/2006/main">
            <a:r>
              <a:t>- /Users/silverbrick/Documents/PlatformIO/Projects/arm/src/main.cpp:104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arm_eye 形成了一条完整链路</a:t>
            </a:r>
            <a:r>
              <a:t>，iPhone</a:t>
            </a:r>
            <a:r>
              <a:t>摄像头负责采集，MediaPipe 输出手势类别和置信度，Python 程序经过稳定性判断后发送单字符命令，ESP32 再执行对应的关节动作。识别与固件分层，问题可以在摄像头、串口或舵机任一层单独定位。建议用时：65秒。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</a:t>
            </a:r>
          </a:p>
          <a:p xmlns:a="http://schemas.openxmlformats.org/drawingml/2006/main">
            <a:r>
              <a:t>- /Users/silverbrick/Documents/ChatGPT/arm_eye/src/main.cpp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四个关节使用独立的模拟输入和 PWM 输出。安全范围直接沿用 arm 项目的校准结果，避免视觉指令使舵机越界。抓取动作中，J2 固定在实测稳定值 78 度，减少其他关节动作时的姿态漂移。建议用时：55秒。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/Users/silverbrick/Documents/ChatGPT/arm_eye/src/main.cpp:8</a:t>
            </a:r>
          </a:p>
          <a:p xmlns:a="http://schemas.openxmlformats.org/drawingml/2006/main">
            <a:r>
              <a:t>- /Users/silverbrick/Documents/ChatGPT/arm_eye/src/main.cpp:53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只响应五种明确手势。张开手掌是待机和松开；握拳触发抓取轨迹；食指向上控制抬升；拇指向下执行抬升的反动作；胜利手势控制底座旋转。每个动作都能解释到具体关节，因此便于校准和答辩演示。建议用时：70秒。</a:t>
            </a:r>
          </a:p>
          <a:p xmlns:a="http://schemas.openxmlformats.org/drawingml/2006/main">
            <a:r>
              <a:t>动作目标角度均受 arm 项目校准的安全角度范围限制。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/Users/silverbrick/Documents/ChatGPT/arm_eye/gesture_control/gesture_control.py:28</a:t>
            </a:r>
          </a:p>
          <a:p xmlns:a="http://schemas.openxmlformats.org/drawingml/2006/main">
            <a:r>
              <a:t>- /Users/silverbrick/Documents/ChatGPT/arm_eye/src/main.cpp:334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视觉识别存在瞬时误判，因此我设计了两级过滤：先检查 0.65 的置信度，再要求同一手势连续稳定 4 帧。进入固件后仍受安全角度和每周期 2 度的限速约束。如果出现异常，长按 GPIO13 两秒，四个关节会平滑回到 90 度。建议用时：65秒。</a:t>
            </a:r>
          </a:p>
          <a:p xmlns:a="http://schemas.openxmlformats.org/drawingml/2006/main">
            <a:r>
              <a:t>所有目标角度均受 arm 项目校准的安全角度范围限制，动作不会越过各关节安全边界。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/Users/silverbrick/Documents/ChatGPT/arm_eye/gesture_control/gesture_control.py:21</a:t>
            </a:r>
          </a:p>
          <a:p xmlns:a="http://schemas.openxmlformats.org/drawingml/2006/main">
            <a:r>
              <a:t>- /Users/silverbrick/Documents/ChatGPT/arm_eye/src/main.cpp:33</a:t>
            </a:r>
          </a:p>
          <a:p xmlns:a="http://schemas.openxmlformats.org/drawingml/2006/main">
            <a:r>
              <a:t>- /Users/silverbrick/Documents/ChatGPT/arm_eye/src/main.cpp:40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现有原型基础上，系统可以向四类场景扩展。第一是轻型物料的搬运和分拣；第二是在高温、粉尘等危险环境中，让操作者与机械臂保持距离；第三是康复训练和无接触辅助服务；第四是作为教学平台，验证视觉识别、串口通信和机器人控制算法。需要说明的是，这些属于后续应用方向，当前项目仍处于功能原型阶段。建议用时：40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</a:t>
            </a:r>
          </a:p>
          <a:p xmlns:a="http://schemas.openxmlformats.org/drawingml/2006/main">
            <a:r>
              <a:t>- /Users/silverbrick/Documents/ChatGPT/arm_eye/src/main.cpp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时建议用一分钟完成现场演示：启动、展示识别标签，再按风险从低到高演示待机、升降、旋转和抓取，最后长按复位。当前主要限制不在识别链路，而在机械夹爪的结构、摩擦力和抓取轨迹时长。下一步优先压缩轨迹并加入视觉目标定位或力反馈。建议用时：65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/Users/silverbrick/Documents/ChatGPT/arm_eye/src/gesture_trajectories.h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总结来说，arm 完成了机械臂可靠控制的</a:t>
            </a:r>
            <a:r>
              <a:t>基础</a:t>
            </a:r>
            <a:r>
              <a:t>，arm_eye 在此基础上实现了从视觉识别到安全执行的完整闭环。项目已经具备可演示、可测试和可继续扩展的工程基础。我的汇报结束，谢谢各位老师，请批评指正。建议用时：35秒。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b4ee0523a41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77c5669e54614" /><Relationship Type="http://schemas.openxmlformats.org/officeDocument/2006/relationships/slideLayout" Target="/ppt/slideLayouts/slideLayout1.xml" Id="R0e4a445af8da4c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a445af8da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31f6857b1448c" /><Relationship Type="http://schemas.openxmlformats.org/officeDocument/2006/relationships/notesSlide" Target="/ppt/notesSlides/notesSlide1.xml" Id="Re98aa358714f46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9abaefffd41e2" /><Relationship Type="http://schemas.openxmlformats.org/officeDocument/2006/relationships/notesSlide" Target="/ppt/notesSlides/notesSlide2.xml" Id="Rdb2f863ac0e148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82e544434033" /><Relationship Type="http://schemas.openxmlformats.org/officeDocument/2006/relationships/notesSlide" Target="/ppt/notesSlides/notesSlide3.xml" Id="R485b0d641f7b4c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67a11252a4597" /><Relationship Type="http://schemas.openxmlformats.org/officeDocument/2006/relationships/notesSlide" Target="/ppt/notesSlides/notesSlide4.xml" Id="R39f369d736b640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89b8a490542e7" /><Relationship Type="http://schemas.openxmlformats.org/officeDocument/2006/relationships/notesSlide" Target="/ppt/notesSlides/notesSlide5.xml" Id="R9fd95c57e501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8546f0b16484f" /><Relationship Type="http://schemas.openxmlformats.org/officeDocument/2006/relationships/notesSlide" Target="/ppt/notesSlides/notesSlide6.xml" Id="R0d10e40bd456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c310a9a34cac" /><Relationship Type="http://schemas.openxmlformats.org/officeDocument/2006/relationships/notesSlide" Target="/ppt/notesSlides/notesSlide7.xml" Id="Rc3b9786b4f8a48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42a3f0324f1b" /><Relationship Type="http://schemas.openxmlformats.org/officeDocument/2006/relationships/notesSlide" Target="/ppt/notesSlides/notesSlide8.xml" Id="R98595d61907841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ef2225ed74430" /><Relationship Type="http://schemas.openxmlformats.org/officeDocument/2006/relationships/notesSlide" Target="/ppt/notesSlides/notesSlide9.xml" Id="Re87930c03e6d46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1392d8e941b4" /><Relationship Type="http://schemas.openxmlformats.org/officeDocument/2006/relationships/notesSlide" Target="/ppt/notesSlides/notesSlide10.xml" Id="Re1a2fd84015947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405CF9B-A35C-4826-B0AD-AA5D1E38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视觉手势驱动的
</a:t>
            </a: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四自由度机械臂控制系统</a:t>
            </a:r>
            <a:endParaRPr sz="435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36CD661-8E46-40BE-B6B3-EB97E8E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arm 与 arm_eye 项目答辩
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答辩人：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姜定鑫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   2026年8月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27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日</a:t>
            </a:r>
            <a:endParaRPr sz="1575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0FFCD3F-8A3A-46A5-AFD7-5F767D3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DEFENSE · 10 MIN</a:t>
            </a:r>
            <a:endParaRPr sz="15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435014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EAE8F10-4CED-42DC-8E31-FAEEF61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D725CA-9E7C-4E13-8413-680D6755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 从示教复现到自然交互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866CD8C-0D0F-4F08-82B3-41EB9DB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arm｜基础控制</a:t>
            </a:r>
            <a:endParaRPr sz="22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电位器实时映射四个舵机
按钮完成动作录制与回放
解决“机械臂如何稳定运动”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0BF1950-1996-44A1-97D2-D697265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arm_eye｜视觉扩展</a:t>
            </a:r>
            <a:endParaRPr sz="22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电脑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连接手机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摄像头识别手势
串口发送动作指令给 ESP32
解决“人如何更自然地控制机械臂”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accent-evolution">
            <a:extLst xmlns:a="http://schemas.openxmlformats.org/drawingml/2006/main">
              <a:ext uri="{FF2B5EF4-FFF2-40B4-BE49-F238E27FC236}">
                <a16:creationId xmlns:a16="http://schemas.microsoft.com/office/drawing/2014/main" id="{A0ACDDFB-24D7-45DE-B17C-E2E34B0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87838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3A740E3-C3E2-42F1-ACD3-B1F41E4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03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937DA09-7269-425B-BCF8-8E435F28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 arm 项目：建立可靠的四轴控制底座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B71CA58-802C-4BA3-AC58-90FDD4DC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四关节同步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J1–J4 分别读取电位器，并驱动对应舵机。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6F8985C-8368-4FE9-B12F-BAA446EA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电位器校准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ADC 输入经过范围标定，再映射为对应关节角度。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8680469-646F-429D-8FF8-6F23DB19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示教录制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按钮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单击开始或停止，保存完整运动过程。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CC7ACF2-9BAD-4023-A261-B3C3729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动作回放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双击按钮按记录帧顺序复现机械臂动作。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arm">
            <a:extLst xmlns:a="http://schemas.openxmlformats.org/drawingml/2006/main">
              <a:ext uri="{FF2B5EF4-FFF2-40B4-BE49-F238E27FC236}">
                <a16:creationId xmlns:a16="http://schemas.microsoft.com/office/drawing/2014/main" id="{DFDA513D-BB09-4F51-AF22-6DAF519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9014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A9787BA-88F9-48FF-8498-15A49614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04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F3C3246-96AE-4B2E-ADAA-A36496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 arm_eye：构建“看见—判断—执行”闭环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188F8427-B795-4771-AEEF-3F6DE12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OpenCV 读取</a:t>
            </a: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手机</a:t>
            </a: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摄像头画面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9AE363F-9AB6-4A13-8B48-D767E45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采集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34CB913D-2571-4437-B557-1ED053F1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MediaPipe GestureRecognizer 输出类别与置信度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FF5A06B-4642-4AA7-9605-9F472E9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识别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06710B6-53C1-4C15-9B6D-4C9D407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PySerial 将单字符命令发送到固定端口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6DA6350-6FCF-4101-9515-39D6E0AD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通信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6D64F01-3B23-4740-A3C6-7105C267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ESP32 将指令转换为安全、平滑的舵机运动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F96709D7-0D4C-4606-BECC-6404148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执行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005F77D0-A356-43DC-B0F5-C3D4E38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控制链路</a:t>
            </a:r>
            <a:endParaRPr sz="22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MacBook 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连接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iPhone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后置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摄像头
→ MediaPipe
→ 串口命令
→ ESP32
→ 四轴机械臂</a:t>
            </a:r>
            <a:endParaRPr sz="17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识别与执行解耦，便于独立调试。</a:t>
            </a:r>
            <a:endParaRPr sz="13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accent-architecture">
            <a:extLst xmlns:a="http://schemas.openxmlformats.org/drawingml/2006/main">
              <a:ext uri="{FF2B5EF4-FFF2-40B4-BE49-F238E27FC236}">
                <a16:creationId xmlns:a16="http://schemas.microsoft.com/office/drawing/2014/main" id="{53D3E449-E2FF-4B03-87D0-FC471A5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2745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FD97C7-D0AE-4BC7-AA0D-D4B1076C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05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C381672-7D7A-4FD4-9851-33FC999F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  硬件映射与关节校准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D89086A-3E6D-4A5C-99BD-9E42438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J1｜底座旋转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GPIO34 · 舵机 GPIO18
安全范围 30–150°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5611FBB-F373-44C6-99BF-B27DBBE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J2｜姿态稳定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GPIO35 · 舵机 GPIO5
G 动作中固定为 78°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1E82E2E-45B2-4D3D-9EA6-04AD9258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J3｜抬升关节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GPIO32 · 舵机 GPIO17
安全范围 60–160°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C7E4E37-AD9E-48DA-8F1D-CF3FB425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J4｜末端夹爪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GPIO33 · 舵机 GPIO16
安全范围 60–160°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hardware">
            <a:extLst xmlns:a="http://schemas.openxmlformats.org/drawingml/2006/main">
              <a:ext uri="{FF2B5EF4-FFF2-40B4-BE49-F238E27FC236}">
                <a16:creationId xmlns:a16="http://schemas.microsoft.com/office/drawing/2014/main" id="{9866A6CB-8B88-46C7-9418-A705329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8898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7D27CD-CEC9-488F-B19C-E2E027E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06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06F3110-4401-4668-8453-1DF9E12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  五种手势映射为可解释动作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61E8722F-B4AC-4704-A5D8-76AB95B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G｜J4 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控制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爪夹关闭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23BCB78-B10C-4C53-9DE8-0B25BE8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Closed_Fist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1F7A3D86-E5D9-4893-8750-1D3D01E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U｜J3 以当前位置为基准逆时针 15°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9E05855-AD35-4B4A-85C6-BD0A7A0E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Pointing_Up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716AB99-A4D2-4DCF-92A9-FF4D1BE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D｜U 的反动作，J3 顺时针 15°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3292CFA-78C8-48DF-8167-3052EF08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Thumb_Down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C1E1DF74-ECDC-4C7B-8ADA-2E62D87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R｜J1 控制底座旋转到预设安全位置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DBB35795-9766-465C-8128-EA8AF93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Victory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F2BC4560-61CD-4A44-B28D-412BF45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Open_Palm → S</a:t>
            </a:r>
            <a:endParaRPr sz="21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待机 / 松开
J4 调整到最大安全角 160°
其他关节保持</a:t>
            </a:r>
            <a:endParaRPr sz="157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无手 10 帧后也自动发送 S。
动作安全：所有目标角度均受 arm 项目校准的安全角度范围限制。</a:t>
            </a:r>
            <a:endParaRPr sz="13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accent-gestures">
            <a:extLst xmlns:a="http://schemas.openxmlformats.org/drawingml/2006/main">
              <a:ext uri="{FF2B5EF4-FFF2-40B4-BE49-F238E27FC236}">
                <a16:creationId xmlns:a16="http://schemas.microsoft.com/office/drawing/2014/main" id="{DFA0A18C-CED3-42BF-9C9C-B42E8D67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4173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0429132-85D9-4BB5-87A7-D0CE376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07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DFF0729-9E63-4201-821D-86BFC52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  安全性：识别过滤 + 运动约束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8881EA3-6249-4816-B253-DD3C0B5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置信度门槛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识别置信度 ≥ 0.65 才进入候选状态。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BABCBF9-FB53-40D4-8A04-D919A20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连续帧确认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同一手势稳定 4 帧后才发送命令。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56E5A53-C0E0-4393-8CB8-6579232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平滑限速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目标角度受 arm 项目校准的安全角度范围限制。
每 20 ms 最大变化 2°，减少舵机突跳。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BB1CFC8-BE90-48D8-BD67-94F2785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硬件复位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按钮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长按 2 秒，四轴平滑回到 90°。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safety">
            <a:extLst xmlns:a="http://schemas.openxmlformats.org/drawingml/2006/main">
              <a:ext uri="{FF2B5EF4-FFF2-40B4-BE49-F238E27FC236}">
                <a16:creationId xmlns:a16="http://schemas.microsoft.com/office/drawing/2014/main" id="{D52E48B9-A1F8-40DC-A936-D3F8183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696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0429132-85D9-4BB5-87A7-D0CE376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08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DFF0729-9E63-4201-821D-86BFC52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  应用前景：从手势控制走向人机协作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8881EA3-6249-4816-B253-DD3C0B5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工业分拣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通过手势选择动作，可用于轻型物料搬运与分类。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BABCBF9-FB53-40D4-8A04-D919A20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危险环境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操作者保持安全距离，远程控制机械臂完成简单操作。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56E5A53-C0E0-4393-8CB8-6579232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辅助服务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可扩展到康复训练、无接触辅助和基础生活服务。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BB1CFC8-BE90-48D8-BD67-94F2785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教学科研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用于验证视觉识别、串口通信和机器人控制算法。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safety">
            <a:extLst xmlns:a="http://schemas.openxmlformats.org/drawingml/2006/main">
              <a:ext uri="{FF2B5EF4-FFF2-40B4-BE49-F238E27FC236}">
                <a16:creationId xmlns:a16="http://schemas.microsoft.com/office/drawing/2014/main" id="{D52E48B9-A1F8-40DC-A936-D3F8183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6964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08737C-4F83-4592-9237-21D664A0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09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26521D-B2C2-4FA1-95ED-0FC552C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  现场演示路径与后续优化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ADF5F66-0A79-41E8-953D-44078D6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演示路径｜约 60 秒</a:t>
            </a:r>
            <a:endParaRPr sz="21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1. 双击启动器并完成烧录
2. 摄像头显示识别标签
3. 依次演示 S、U/D、R、G
4. 长按按钮完成安全复位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B711FB2-C187-4DBA-8F35-CB1E02B7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当前限制｜可继续迭代</a:t>
            </a:r>
            <a:endParaRPr sz="21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抓取效果受夹爪结构与摩擦力影响
依赖摄像头权限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、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固定串口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以及外部设备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
下一步：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改进机械结构达到更理想的抓取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效果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             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添加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自带摄像头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             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单片机联网调用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api，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去除对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外部设备的依赖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accent-demo">
            <a:extLst xmlns:a="http://schemas.openxmlformats.org/drawingml/2006/main">
              <a:ext uri="{FF2B5EF4-FFF2-40B4-BE49-F238E27FC236}">
                <a16:creationId xmlns:a16="http://schemas.microsoft.com/office/drawing/2014/main" id="{1C75539C-9C2E-4D4A-BBBC-0EF08B6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03615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53975BF-1C06-4B10-A427-1BE9E47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从可靠控制，
</a:t>
            </a: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走向自然交互。</a:t>
            </a:r>
            <a:endParaRPr sz="48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38CDD4D-FAED-4CE1-9745-84E6670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arm：安全、录制、回放</a:t>
            </a:r>
            <a:endParaRPr sz="16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arm_eye：视觉、串口、手势闭环</a:t>
            </a:r>
            <a:endParaRPr sz="16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谢谢各位老师，请提问。</a:t>
            </a:r>
            <a:endParaRPr sz="16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389C534-EE34-4BD4-81C8-0F00FC5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CONCLUSION</a:t>
            </a:r>
            <a:endParaRPr sz="15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72631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2026-08-27T04:20:12.1460000Z</dcterms:created>
  <dcterms:modified xsi:type="dcterms:W3CDTF">2026-08-27T04:20:12.1460000Z</dcterms:modified>
</coreProperties>
</file>